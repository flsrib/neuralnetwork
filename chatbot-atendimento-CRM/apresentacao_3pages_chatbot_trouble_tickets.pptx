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6" r:id="rId3"/>
    <p:sldId id="260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F6FC"/>
    <a:srgbClr val="60FA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8:38:31.01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59 24575,'281'15'0,"-139"-4"0,1573 15 0,-1203-51 0,203-4 0,-230 31 0,274-3 0,-382-20 41,-16 0-246,-74 14-500,80 3 178,102 1-342,110 2-114,2740 1-4494,-2137 1 4847,4 0 3353,106-1 2384,-1230 0-11773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BDE8-D867-093E-2346-18A7A4BE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481FF-9615-056B-E0CB-FBBDE9AC6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25B84-6481-94F8-71C8-8A84A4544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Conteúdo e especificações do modelo baseados no README.md fornecido pelo autor.
Identidade visual baseada na apresentação fornecida pelo autor.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71065-8EBE-A1CC-3367-EEA14DE12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03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Conclusões e benefícios apresentados como proposta estratégica do projeto, com base no objetivo indicado pelo autor.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02920" cy="0"/>
          </a:xfrm>
          <a:prstGeom prst="line">
            <a:avLst/>
          </a:prstGeom>
          <a:noFill/>
          <a:ln w="38100">
            <a:solidFill>
              <a:srgbClr val="18C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097280" y="173736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AA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DE TROUBLE 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869680" y="6519672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78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FGV • REDES NEURAIS APLICADAS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78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744E786-2B21-94C4-4B5C-2377D91EB035}"/>
              </a:ext>
            </a:extLst>
          </p:cNvPr>
          <p:cNvSpPr/>
          <p:nvPr userDrawn="1"/>
        </p:nvSpPr>
        <p:spPr>
          <a:xfrm>
            <a:off x="167278" y="654165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D78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Ribeiro</a:t>
            </a:r>
            <a:endParaRPr lang="en-US" sz="70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01752"/>
            <a:ext cx="502920" cy="0"/>
          </a:xfrm>
          <a:prstGeom prst="line">
            <a:avLst/>
          </a:prstGeom>
          <a:noFill/>
          <a:ln w="38100">
            <a:solidFill>
              <a:srgbClr val="18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737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8AA6C5"/>
                </a:solidFill>
              </a:rPr>
              <a:t>CHATBOT DE TROUBLE TICKETS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869680" y="65196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D7898"/>
                </a:solidFill>
              </a:rPr>
              <a:t>FGV • REDES NEURAIS APLICADAS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D78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A82B6B1-4F62-2E09-EF37-50E86EC9B869}"/>
              </a:ext>
            </a:extLst>
          </p:cNvPr>
          <p:cNvSpPr/>
          <p:nvPr userDrawn="1"/>
        </p:nvSpPr>
        <p:spPr>
          <a:xfrm>
            <a:off x="167278" y="6541656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D78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Ribeiro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85693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DARK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47472"/>
            <a:ext cx="329184" cy="0"/>
          </a:xfrm>
          <a:prstGeom prst="line">
            <a:avLst/>
          </a:prstGeom>
          <a:noFill/>
          <a:ln w="27940">
            <a:solidFill>
              <a:srgbClr val="18C8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41248" y="246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5D78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 DE TROUBLE TICKETS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56539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D78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 Ribeiro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9509760" y="656539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D78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 EXECUTIVO • IA APLICADA AO NOC</a:t>
            </a:r>
            <a:endParaRPr lang="en-US" sz="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50">
                <a:solidFill>
                  <a:srgbClr val="5D78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4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78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customXml" Target="../ink/ink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44D8-FA96-FBF3-2187-CDFDE966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ídeo 2" title="Partículas desfocadas azul ciano">
            <a:hlinkClick r:id="" action="ppaction://media"/>
            <a:extLst>
              <a:ext uri="{FF2B5EF4-FFF2-40B4-BE49-F238E27FC236}">
                <a16:creationId xmlns:a16="http://schemas.microsoft.com/office/drawing/2014/main" id="{218446B2-312E-4D75-6E2C-C34C75B609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BF653DD9-C9D1-B60C-56B9-29568B390C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980343" y="3659580"/>
                </a:moveTo>
                <a:cubicBezTo>
                  <a:pt x="3918858" y="4120714"/>
                  <a:pt x="3660623" y="4490647"/>
                  <a:pt x="3205636" y="4769377"/>
                </a:cubicBezTo>
                <a:cubicBezTo>
                  <a:pt x="2904362" y="4951781"/>
                  <a:pt x="2554924" y="5042983"/>
                  <a:pt x="2157324" y="5042983"/>
                </a:cubicBezTo>
                <a:cubicBezTo>
                  <a:pt x="2048701" y="5042983"/>
                  <a:pt x="1932392" y="5035811"/>
                  <a:pt x="1808399" y="5021464"/>
                </a:cubicBezTo>
                <a:cubicBezTo>
                  <a:pt x="1684405" y="5007118"/>
                  <a:pt x="1620358" y="4999944"/>
                  <a:pt x="1616259" y="4999944"/>
                </a:cubicBezTo>
                <a:cubicBezTo>
                  <a:pt x="1712585" y="5231536"/>
                  <a:pt x="1929318" y="5428287"/>
                  <a:pt x="2266459" y="5590196"/>
                </a:cubicBezTo>
                <a:cubicBezTo>
                  <a:pt x="2603600" y="5752106"/>
                  <a:pt x="2998638" y="5845358"/>
                  <a:pt x="3451575" y="5869951"/>
                </a:cubicBezTo>
                <a:cubicBezTo>
                  <a:pt x="3451575" y="6214265"/>
                  <a:pt x="3273269" y="6460204"/>
                  <a:pt x="2916659" y="6607767"/>
                </a:cubicBezTo>
                <a:cubicBezTo>
                  <a:pt x="3256873" y="6607767"/>
                  <a:pt x="3522282" y="6557554"/>
                  <a:pt x="3712885" y="6457130"/>
                </a:cubicBezTo>
                <a:cubicBezTo>
                  <a:pt x="3938328" y="6340309"/>
                  <a:pt x="4102287" y="6135360"/>
                  <a:pt x="4204761" y="5842283"/>
                </a:cubicBezTo>
                <a:cubicBezTo>
                  <a:pt x="4667946" y="5780799"/>
                  <a:pt x="5049150" y="5650144"/>
                  <a:pt x="5348375" y="5450319"/>
                </a:cubicBezTo>
                <a:cubicBezTo>
                  <a:pt x="5647600" y="5250494"/>
                  <a:pt x="5797213" y="5021464"/>
                  <a:pt x="5797213" y="4763228"/>
                </a:cubicBezTo>
                <a:cubicBezTo>
                  <a:pt x="5797213" y="4377925"/>
                  <a:pt x="5585091" y="4086898"/>
                  <a:pt x="5160847" y="3890147"/>
                </a:cubicBezTo>
                <a:cubicBezTo>
                  <a:pt x="4830880" y="3736435"/>
                  <a:pt x="4437378" y="3659580"/>
                  <a:pt x="3980343" y="3659580"/>
                </a:cubicBezTo>
                <a:close/>
                <a:moveTo>
                  <a:pt x="2043577" y="2217765"/>
                </a:moveTo>
                <a:cubicBezTo>
                  <a:pt x="1539403" y="2217765"/>
                  <a:pt x="1114134" y="2343808"/>
                  <a:pt x="767771" y="2595895"/>
                </a:cubicBezTo>
                <a:cubicBezTo>
                  <a:pt x="415259" y="2852081"/>
                  <a:pt x="239003" y="3168727"/>
                  <a:pt x="239003" y="3545833"/>
                </a:cubicBezTo>
                <a:cubicBezTo>
                  <a:pt x="239003" y="3908592"/>
                  <a:pt x="402962" y="4222164"/>
                  <a:pt x="730880" y="4486548"/>
                </a:cubicBezTo>
                <a:cubicBezTo>
                  <a:pt x="732930" y="4515241"/>
                  <a:pt x="733955" y="4544958"/>
                  <a:pt x="733955" y="4575700"/>
                </a:cubicBezTo>
                <a:cubicBezTo>
                  <a:pt x="733955" y="4770402"/>
                  <a:pt x="680668" y="4930774"/>
                  <a:pt x="574095" y="5056817"/>
                </a:cubicBezTo>
                <a:cubicBezTo>
                  <a:pt x="467521" y="5182861"/>
                  <a:pt x="329181" y="5255105"/>
                  <a:pt x="159073" y="5273551"/>
                </a:cubicBezTo>
                <a:cubicBezTo>
                  <a:pt x="347626" y="5384223"/>
                  <a:pt x="510560" y="5439559"/>
                  <a:pt x="647876" y="5439559"/>
                </a:cubicBezTo>
                <a:cubicBezTo>
                  <a:pt x="1051625" y="5439559"/>
                  <a:pt x="1287316" y="5231536"/>
                  <a:pt x="1354949" y="4815490"/>
                </a:cubicBezTo>
                <a:cubicBezTo>
                  <a:pt x="1574244" y="4885173"/>
                  <a:pt x="1804812" y="4920014"/>
                  <a:pt x="2046651" y="4920014"/>
                </a:cubicBezTo>
                <a:cubicBezTo>
                  <a:pt x="2546726" y="4920014"/>
                  <a:pt x="2973532" y="4785773"/>
                  <a:pt x="3327068" y="4517290"/>
                </a:cubicBezTo>
                <a:cubicBezTo>
                  <a:pt x="3680605" y="4248807"/>
                  <a:pt x="3857373" y="3924988"/>
                  <a:pt x="3857373" y="3545833"/>
                </a:cubicBezTo>
                <a:cubicBezTo>
                  <a:pt x="3857373" y="3168727"/>
                  <a:pt x="3680605" y="2853106"/>
                  <a:pt x="3327068" y="2598970"/>
                </a:cubicBezTo>
                <a:cubicBezTo>
                  <a:pt x="2973532" y="2344833"/>
                  <a:pt x="2545701" y="2217765"/>
                  <a:pt x="2043577" y="2217765"/>
                </a:cubicBezTo>
                <a:close/>
                <a:moveTo>
                  <a:pt x="4506036" y="763654"/>
                </a:moveTo>
                <a:cubicBezTo>
                  <a:pt x="3999813" y="763654"/>
                  <a:pt x="3573519" y="883549"/>
                  <a:pt x="3227156" y="1123339"/>
                </a:cubicBezTo>
                <a:cubicBezTo>
                  <a:pt x="2874644" y="1369277"/>
                  <a:pt x="2698388" y="1679775"/>
                  <a:pt x="2698388" y="2054831"/>
                </a:cubicBezTo>
                <a:cubicBezTo>
                  <a:pt x="2698388" y="2101969"/>
                  <a:pt x="2707611" y="2165503"/>
                  <a:pt x="2726056" y="2245433"/>
                </a:cubicBezTo>
                <a:cubicBezTo>
                  <a:pt x="3006836" y="2265928"/>
                  <a:pt x="3272245" y="2391972"/>
                  <a:pt x="3522282" y="2623563"/>
                </a:cubicBezTo>
                <a:cubicBezTo>
                  <a:pt x="3755923" y="2842858"/>
                  <a:pt x="3908610" y="3085723"/>
                  <a:pt x="3980343" y="3352157"/>
                </a:cubicBezTo>
                <a:cubicBezTo>
                  <a:pt x="4164796" y="3405443"/>
                  <a:pt x="4340027" y="3432086"/>
                  <a:pt x="4506036" y="3432086"/>
                </a:cubicBezTo>
                <a:cubicBezTo>
                  <a:pt x="4655648" y="3432086"/>
                  <a:pt x="4803211" y="3417740"/>
                  <a:pt x="4948725" y="3389047"/>
                </a:cubicBezTo>
                <a:cubicBezTo>
                  <a:pt x="5040952" y="3610392"/>
                  <a:pt x="5162896" y="3772301"/>
                  <a:pt x="5314558" y="3874776"/>
                </a:cubicBezTo>
                <a:cubicBezTo>
                  <a:pt x="5515409" y="4012091"/>
                  <a:pt x="5797213" y="4076650"/>
                  <a:pt x="6159972" y="4068452"/>
                </a:cubicBezTo>
                <a:cubicBezTo>
                  <a:pt x="5940677" y="3886048"/>
                  <a:pt x="5824881" y="3787672"/>
                  <a:pt x="5812584" y="3773326"/>
                </a:cubicBezTo>
                <a:cubicBezTo>
                  <a:pt x="5701912" y="3648307"/>
                  <a:pt x="5646575" y="3494596"/>
                  <a:pt x="5646575" y="3312191"/>
                </a:cubicBezTo>
                <a:cubicBezTo>
                  <a:pt x="5646575" y="3250707"/>
                  <a:pt x="5651699" y="3184098"/>
                  <a:pt x="5661947" y="3112366"/>
                </a:cubicBezTo>
                <a:cubicBezTo>
                  <a:pt x="6096438" y="2837735"/>
                  <a:pt x="6313683" y="2485223"/>
                  <a:pt x="6313683" y="2054831"/>
                </a:cubicBezTo>
                <a:cubicBezTo>
                  <a:pt x="6313683" y="1679775"/>
                  <a:pt x="6137427" y="1369277"/>
                  <a:pt x="5784916" y="1123339"/>
                </a:cubicBezTo>
                <a:cubicBezTo>
                  <a:pt x="5438553" y="883549"/>
                  <a:pt x="5012259" y="763654"/>
                  <a:pt x="4506036" y="76365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72000">
                <a:srgbClr val="002060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04D35CC-CB70-EDB1-55E9-CCB0379060AC}"/>
              </a:ext>
            </a:extLst>
          </p:cNvPr>
          <p:cNvSpPr/>
          <p:nvPr/>
        </p:nvSpPr>
        <p:spPr>
          <a:xfrm>
            <a:off x="6300071" y="175552"/>
            <a:ext cx="560164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 err="1">
                <a:solidFill>
                  <a:srgbClr val="F6FAFF"/>
                </a:solidFill>
              </a:rPr>
              <a:t>ChatBot</a:t>
            </a:r>
            <a:r>
              <a:rPr lang="en-US" sz="2700" b="1" dirty="0">
                <a:solidFill>
                  <a:srgbClr val="F6FAFF"/>
                </a:solidFill>
              </a:rPr>
              <a:t> para </a:t>
            </a:r>
            <a:r>
              <a:rPr lang="en-US" sz="2700" b="1" dirty="0" err="1">
                <a:solidFill>
                  <a:srgbClr val="F6FAFF"/>
                </a:solidFill>
              </a:rPr>
              <a:t>atendimento</a:t>
            </a:r>
            <a:endParaRPr lang="en-US" sz="2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0C390045-05AE-B406-C7BB-477DEBCD922D}"/>
                  </a:ext>
                </a:extLst>
              </p14:cNvPr>
              <p14:cNvContentPartPr/>
              <p14:nvPr/>
            </p14:nvContentPartPr>
            <p14:xfrm>
              <a:off x="6564512" y="533764"/>
              <a:ext cx="5072760" cy="3996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0C390045-05AE-B406-C7BB-477DEBCD92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1512" y="470764"/>
                <a:ext cx="5198400" cy="1656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 3">
            <a:extLst>
              <a:ext uri="{FF2B5EF4-FFF2-40B4-BE49-F238E27FC236}">
                <a16:creationId xmlns:a16="http://schemas.microsoft.com/office/drawing/2014/main" id="{50680EA6-8191-9CDE-BF46-36C7D3A8D14B}"/>
              </a:ext>
            </a:extLst>
          </p:cNvPr>
          <p:cNvSpPr/>
          <p:nvPr/>
        </p:nvSpPr>
        <p:spPr>
          <a:xfrm>
            <a:off x="5994401" y="1111072"/>
            <a:ext cx="621211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6FAFF"/>
                </a:solidFill>
              </a:rPr>
              <a:t>Como </a:t>
            </a:r>
            <a:r>
              <a:rPr lang="en-US" sz="2700" b="1" dirty="0" err="1">
                <a:solidFill>
                  <a:srgbClr val="F6FAFF"/>
                </a:solidFill>
              </a:rPr>
              <a:t>ouvir</a:t>
            </a:r>
            <a:r>
              <a:rPr lang="en-US" sz="2700" b="1" dirty="0">
                <a:solidFill>
                  <a:srgbClr val="F6FAFF"/>
                </a:solidFill>
              </a:rPr>
              <a:t> </a:t>
            </a:r>
            <a:r>
              <a:rPr lang="en-US" sz="2700" b="1" dirty="0" err="1">
                <a:solidFill>
                  <a:srgbClr val="F6FAFF"/>
                </a:solidFill>
              </a:rPr>
              <a:t>seu</a:t>
            </a:r>
            <a:r>
              <a:rPr lang="en-US" sz="2700" b="1" dirty="0">
                <a:solidFill>
                  <a:srgbClr val="F6FAFF"/>
                </a:solidFill>
              </a:rPr>
              <a:t> </a:t>
            </a:r>
            <a:r>
              <a:rPr lang="en-US" sz="2700" b="1" dirty="0" err="1">
                <a:solidFill>
                  <a:srgbClr val="F6FAFF"/>
                </a:solidFill>
              </a:rPr>
              <a:t>cliente</a:t>
            </a:r>
            <a:r>
              <a:rPr lang="en-US" sz="2700" b="1" dirty="0">
                <a:solidFill>
                  <a:srgbClr val="F6FAFF"/>
                </a:solidFill>
              </a:rPr>
              <a:t> e </a:t>
            </a:r>
            <a:r>
              <a:rPr lang="en-US" sz="2700" b="1" dirty="0" err="1">
                <a:solidFill>
                  <a:srgbClr val="F6FAFF"/>
                </a:solidFill>
              </a:rPr>
              <a:t>realizar</a:t>
            </a:r>
            <a:r>
              <a:rPr lang="en-US" sz="2700" b="1" dirty="0">
                <a:solidFill>
                  <a:srgbClr val="F6FAFF"/>
                </a:solidFill>
              </a:rPr>
              <a:t> o </a:t>
            </a:r>
            <a:r>
              <a:rPr lang="en-US" sz="2700" b="1" dirty="0" err="1">
                <a:solidFill>
                  <a:srgbClr val="F6FAFF"/>
                </a:solidFill>
              </a:rPr>
              <a:t>controle</a:t>
            </a:r>
            <a:r>
              <a:rPr lang="en-US" sz="2700" b="1" dirty="0">
                <a:solidFill>
                  <a:srgbClr val="F6FAFF"/>
                </a:solidFill>
              </a:rPr>
              <a:t> antes do </a:t>
            </a:r>
            <a:r>
              <a:rPr lang="en-US" sz="2700" b="1" dirty="0" err="1">
                <a:solidFill>
                  <a:srgbClr val="F6FAFF"/>
                </a:solidFill>
              </a:rPr>
              <a:t>dano</a:t>
            </a:r>
            <a:endParaRPr lang="en-US" sz="2700" dirty="0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EC691A1-DAFC-B28C-9804-875CE89DF00A}"/>
              </a:ext>
            </a:extLst>
          </p:cNvPr>
          <p:cNvGrpSpPr/>
          <p:nvPr/>
        </p:nvGrpSpPr>
        <p:grpSpPr>
          <a:xfrm>
            <a:off x="6413500" y="2355740"/>
            <a:ext cx="5488214" cy="1161288"/>
            <a:chOff x="6413500" y="2355740"/>
            <a:chExt cx="5488214" cy="1161288"/>
          </a:xfrm>
        </p:grpSpPr>
        <p:sp>
          <p:nvSpPr>
            <p:cNvPr id="4" name="Shape 7">
              <a:extLst>
                <a:ext uri="{FF2B5EF4-FFF2-40B4-BE49-F238E27FC236}">
                  <a16:creationId xmlns:a16="http://schemas.microsoft.com/office/drawing/2014/main" id="{C2ED8E89-703F-F2E0-EF8D-94D200AF7DF2}"/>
                </a:ext>
              </a:extLst>
            </p:cNvPr>
            <p:cNvSpPr/>
            <p:nvPr/>
          </p:nvSpPr>
          <p:spPr>
            <a:xfrm>
              <a:off x="6413500" y="2355740"/>
              <a:ext cx="5488214" cy="1161288"/>
            </a:xfrm>
            <a:prstGeom prst="roundRect">
              <a:avLst>
                <a:gd name="adj" fmla="val 4724"/>
              </a:avLst>
            </a:prstGeom>
            <a:solidFill>
              <a:srgbClr val="0D2038">
                <a:alpha val="98000"/>
              </a:srgbClr>
            </a:solidFill>
            <a:ln w="10160">
              <a:solidFill>
                <a:srgbClr val="24496A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10">
              <a:extLst>
                <a:ext uri="{FF2B5EF4-FFF2-40B4-BE49-F238E27FC236}">
                  <a16:creationId xmlns:a16="http://schemas.microsoft.com/office/drawing/2014/main" id="{5AE9443E-B528-19ED-7B3B-4217F2758C76}"/>
                </a:ext>
              </a:extLst>
            </p:cNvPr>
            <p:cNvSpPr/>
            <p:nvPr/>
          </p:nvSpPr>
          <p:spPr>
            <a:xfrm>
              <a:off x="6882932" y="2520332"/>
              <a:ext cx="4866907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6FAFF"/>
                  </a:solidFill>
                </a:rPr>
                <a:t>O desafio atual</a:t>
              </a:r>
              <a:endParaRPr lang="en-US" sz="1200" dirty="0"/>
            </a:p>
          </p:txBody>
        </p:sp>
        <p:sp>
          <p:nvSpPr>
            <p:cNvPr id="9" name="Text 11">
              <a:extLst>
                <a:ext uri="{FF2B5EF4-FFF2-40B4-BE49-F238E27FC236}">
                  <a16:creationId xmlns:a16="http://schemas.microsoft.com/office/drawing/2014/main" id="{4142367C-A7AF-2B9E-D5BD-E93EA62E9983}"/>
                </a:ext>
              </a:extLst>
            </p:cNvPr>
            <p:cNvSpPr/>
            <p:nvPr/>
          </p:nvSpPr>
          <p:spPr>
            <a:xfrm>
              <a:off x="6551568" y="2995820"/>
              <a:ext cx="5212077" cy="3566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CD3"/>
                  </a:solidFill>
                </a:rPr>
                <a:t>Centrais de suporte e NOCs lidam com alto volume de incidentes críticos. Uma mensagem de insatisfação pode surgir durante a consulta do ticket e exigir resposta rápida.</a:t>
              </a:r>
              <a:endParaRPr lang="en-US" sz="1000" dirty="0"/>
            </a:p>
          </p:txBody>
        </p:sp>
        <p:sp>
          <p:nvSpPr>
            <p:cNvPr id="5" name="Shape 8">
              <a:extLst>
                <a:ext uri="{FF2B5EF4-FFF2-40B4-BE49-F238E27FC236}">
                  <a16:creationId xmlns:a16="http://schemas.microsoft.com/office/drawing/2014/main" id="{54C22809-6DB5-4B26-B514-B795517A58C9}"/>
                </a:ext>
              </a:extLst>
            </p:cNvPr>
            <p:cNvSpPr/>
            <p:nvPr/>
          </p:nvSpPr>
          <p:spPr>
            <a:xfrm>
              <a:off x="6483624" y="2472360"/>
              <a:ext cx="329184" cy="329184"/>
            </a:xfrm>
            <a:prstGeom prst="ellipse">
              <a:avLst/>
            </a:prstGeom>
            <a:solidFill>
              <a:srgbClr val="FF506D"/>
            </a:solidFill>
            <a:ln w="12700">
              <a:solidFill>
                <a:srgbClr val="FF506D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 9">
              <a:extLst>
                <a:ext uri="{FF2B5EF4-FFF2-40B4-BE49-F238E27FC236}">
                  <a16:creationId xmlns:a16="http://schemas.microsoft.com/office/drawing/2014/main" id="{7E9F0FAE-1F67-C1C4-1A6F-5DFA0DC0F023}"/>
                </a:ext>
              </a:extLst>
            </p:cNvPr>
            <p:cNvSpPr/>
            <p:nvPr/>
          </p:nvSpPr>
          <p:spPr>
            <a:xfrm>
              <a:off x="6483624" y="2504364"/>
              <a:ext cx="32918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71426"/>
                  </a:solidFill>
                </a:rPr>
                <a:t>01</a:t>
              </a:r>
              <a:endParaRPr lang="en-US" sz="750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4C018718-9F49-B832-6096-254D1CFF9D18}"/>
              </a:ext>
            </a:extLst>
          </p:cNvPr>
          <p:cNvGrpSpPr/>
          <p:nvPr/>
        </p:nvGrpSpPr>
        <p:grpSpPr>
          <a:xfrm>
            <a:off x="6413500" y="3654188"/>
            <a:ext cx="5488214" cy="1161288"/>
            <a:chOff x="6413500" y="3654188"/>
            <a:chExt cx="5488214" cy="1161288"/>
          </a:xfrm>
        </p:grpSpPr>
        <p:sp>
          <p:nvSpPr>
            <p:cNvPr id="10" name="Shape 12">
              <a:extLst>
                <a:ext uri="{FF2B5EF4-FFF2-40B4-BE49-F238E27FC236}">
                  <a16:creationId xmlns:a16="http://schemas.microsoft.com/office/drawing/2014/main" id="{03E4BFA6-3132-FFDB-11B8-5CB52CC2778A}"/>
                </a:ext>
              </a:extLst>
            </p:cNvPr>
            <p:cNvSpPr/>
            <p:nvPr/>
          </p:nvSpPr>
          <p:spPr>
            <a:xfrm>
              <a:off x="6413500" y="3654188"/>
              <a:ext cx="5488214" cy="1161288"/>
            </a:xfrm>
            <a:prstGeom prst="roundRect">
              <a:avLst>
                <a:gd name="adj" fmla="val 4724"/>
              </a:avLst>
            </a:prstGeom>
            <a:solidFill>
              <a:srgbClr val="0D2038">
                <a:alpha val="98000"/>
              </a:srgbClr>
            </a:solidFill>
            <a:ln w="10160">
              <a:solidFill>
                <a:srgbClr val="24496A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5">
              <a:extLst>
                <a:ext uri="{FF2B5EF4-FFF2-40B4-BE49-F238E27FC236}">
                  <a16:creationId xmlns:a16="http://schemas.microsoft.com/office/drawing/2014/main" id="{D372CC56-8618-BDDA-52A7-576A0281D3E0}"/>
                </a:ext>
              </a:extLst>
            </p:cNvPr>
            <p:cNvSpPr/>
            <p:nvPr/>
          </p:nvSpPr>
          <p:spPr>
            <a:xfrm>
              <a:off x="6882932" y="3818780"/>
              <a:ext cx="4866907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6FAFF"/>
                  </a:solidFill>
                </a:rPr>
                <a:t>A limitação atual</a:t>
              </a:r>
              <a:endParaRPr lang="en-US" sz="1200" dirty="0"/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7C78483C-7B29-2265-54C6-0BA46DDFA86A}"/>
                </a:ext>
              </a:extLst>
            </p:cNvPr>
            <p:cNvSpPr/>
            <p:nvPr/>
          </p:nvSpPr>
          <p:spPr>
            <a:xfrm>
              <a:off x="6551568" y="4294268"/>
              <a:ext cx="5212077" cy="3566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BCD3"/>
                  </a:solidFill>
                </a:rPr>
                <a:t>Consultar status e aplicar regras fixas não revela, por si só, o contexto emocional do cliente nem orienta a ação de forma consistente e auditável.</a:t>
              </a:r>
              <a:endParaRPr lang="en-US" sz="1000" dirty="0"/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74963F15-EEA5-1167-2DCA-1DD3D5C55AD3}"/>
                </a:ext>
              </a:extLst>
            </p:cNvPr>
            <p:cNvSpPr/>
            <p:nvPr/>
          </p:nvSpPr>
          <p:spPr>
            <a:xfrm>
              <a:off x="6483624" y="3770808"/>
              <a:ext cx="329184" cy="329184"/>
            </a:xfrm>
            <a:prstGeom prst="ellipse">
              <a:avLst/>
            </a:prstGeom>
            <a:solidFill>
              <a:srgbClr val="2997FF"/>
            </a:solidFill>
            <a:ln w="12700">
              <a:solidFill>
                <a:srgbClr val="2997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09E931C2-C233-D4AE-00DB-908EB342B89C}"/>
                </a:ext>
              </a:extLst>
            </p:cNvPr>
            <p:cNvSpPr/>
            <p:nvPr/>
          </p:nvSpPr>
          <p:spPr>
            <a:xfrm>
              <a:off x="6483624" y="3802812"/>
              <a:ext cx="329184" cy="1280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dirty="0">
                  <a:solidFill>
                    <a:srgbClr val="071426"/>
                  </a:solidFill>
                </a:rPr>
                <a:t>02</a:t>
              </a:r>
              <a:endParaRPr lang="en-US" sz="750" dirty="0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D4B97159-62CC-A376-CD86-3B5D5B9BD911}"/>
              </a:ext>
            </a:extLst>
          </p:cNvPr>
          <p:cNvGrpSpPr/>
          <p:nvPr/>
        </p:nvGrpSpPr>
        <p:grpSpPr>
          <a:xfrm>
            <a:off x="6413500" y="4952636"/>
            <a:ext cx="5488214" cy="1371600"/>
            <a:chOff x="6413500" y="4952636"/>
            <a:chExt cx="5488214" cy="1371600"/>
          </a:xfrm>
        </p:grpSpPr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2DABEF2B-DA81-2CE3-349A-2275E720523D}"/>
                </a:ext>
              </a:extLst>
            </p:cNvPr>
            <p:cNvSpPr/>
            <p:nvPr/>
          </p:nvSpPr>
          <p:spPr>
            <a:xfrm>
              <a:off x="6413500" y="4952636"/>
              <a:ext cx="5488214" cy="1371600"/>
            </a:xfrm>
            <a:prstGeom prst="roundRect">
              <a:avLst>
                <a:gd name="adj" fmla="val 4000"/>
              </a:avLst>
            </a:prstGeom>
            <a:solidFill>
              <a:srgbClr val="0D2038">
                <a:alpha val="98000"/>
              </a:srgbClr>
            </a:solidFill>
            <a:ln w="10160">
              <a:solidFill>
                <a:srgbClr val="24496A"/>
              </a:solidFill>
              <a:prstDash val="solid"/>
            </a:ln>
            <a:effectLst>
              <a:outerShdw blurRad="19050" dist="8890" dir="27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D6760A15-D60A-4ED2-E2B5-9A07C8F20705}"/>
                </a:ext>
              </a:extLst>
            </p:cNvPr>
            <p:cNvGrpSpPr/>
            <p:nvPr/>
          </p:nvGrpSpPr>
          <p:grpSpPr>
            <a:xfrm>
              <a:off x="6483624" y="5069256"/>
              <a:ext cx="5280021" cy="1090388"/>
              <a:chOff x="6483624" y="5069256"/>
              <a:chExt cx="5280021" cy="1090388"/>
            </a:xfrm>
          </p:grpSpPr>
          <p:sp>
            <p:nvSpPr>
              <p:cNvPr id="21" name="Text 20">
                <a:extLst>
                  <a:ext uri="{FF2B5EF4-FFF2-40B4-BE49-F238E27FC236}">
                    <a16:creationId xmlns:a16="http://schemas.microsoft.com/office/drawing/2014/main" id="{6123F489-9E49-C8EA-28B4-D8E423E77D9A}"/>
                  </a:ext>
                </a:extLst>
              </p:cNvPr>
              <p:cNvSpPr/>
              <p:nvPr/>
            </p:nvSpPr>
            <p:spPr>
              <a:xfrm>
                <a:off x="6882932" y="5117228"/>
                <a:ext cx="4866907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F6FAFF"/>
                    </a:solidFill>
                  </a:rPr>
                  <a:t>A visão com Inteligência Artificial</a:t>
                </a:r>
                <a:endParaRPr lang="en-US" sz="1200" dirty="0"/>
              </a:p>
            </p:txBody>
          </p:sp>
          <p:sp>
            <p:nvSpPr>
              <p:cNvPr id="22" name="Text 21">
                <a:extLst>
                  <a:ext uri="{FF2B5EF4-FFF2-40B4-BE49-F238E27FC236}">
                    <a16:creationId xmlns:a16="http://schemas.microsoft.com/office/drawing/2014/main" id="{B1FF6A5F-38B5-B0BB-61AE-75376E23D948}"/>
                  </a:ext>
                </a:extLst>
              </p:cNvPr>
              <p:cNvSpPr/>
              <p:nvPr/>
            </p:nvSpPr>
            <p:spPr>
              <a:xfrm>
                <a:off x="6551568" y="5592716"/>
                <a:ext cx="5212077" cy="566928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000" dirty="0">
                    <a:solidFill>
                      <a:srgbClr val="A8BCD3"/>
                    </a:solidFill>
                  </a:rPr>
                  <a:t>Analisar a mensagem em tempo real, classificar sentimento e converter o resultado em ação: escalonar ao NOC N2, encerrar com confirmação ou registrar observação técnica.</a:t>
                </a:r>
                <a:endParaRPr lang="en-US" sz="1000" dirty="0"/>
              </a:p>
            </p:txBody>
          </p:sp>
          <p:sp>
            <p:nvSpPr>
              <p:cNvPr id="19" name="Shape 18">
                <a:extLst>
                  <a:ext uri="{FF2B5EF4-FFF2-40B4-BE49-F238E27FC236}">
                    <a16:creationId xmlns:a16="http://schemas.microsoft.com/office/drawing/2014/main" id="{909536ED-3037-9CA4-CE60-C2F3FCC773AB}"/>
                  </a:ext>
                </a:extLst>
              </p:cNvPr>
              <p:cNvSpPr/>
              <p:nvPr/>
            </p:nvSpPr>
            <p:spPr>
              <a:xfrm>
                <a:off x="6483624" y="5069256"/>
                <a:ext cx="329184" cy="329184"/>
              </a:xfrm>
              <a:prstGeom prst="ellipse">
                <a:avLst/>
              </a:prstGeom>
              <a:solidFill>
                <a:srgbClr val="19D3A2"/>
              </a:solidFill>
              <a:ln w="12700">
                <a:solidFill>
                  <a:srgbClr val="19D3A2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 19">
                <a:extLst>
                  <a:ext uri="{FF2B5EF4-FFF2-40B4-BE49-F238E27FC236}">
                    <a16:creationId xmlns:a16="http://schemas.microsoft.com/office/drawing/2014/main" id="{15F7FC0B-37AB-7CFA-A031-496394EEBF50}"/>
                  </a:ext>
                </a:extLst>
              </p:cNvPr>
              <p:cNvSpPr/>
              <p:nvPr/>
            </p:nvSpPr>
            <p:spPr>
              <a:xfrm>
                <a:off x="6483624" y="5101260"/>
                <a:ext cx="329184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b="1" dirty="0">
                    <a:solidFill>
                      <a:srgbClr val="071426"/>
                    </a:solidFill>
                  </a:rPr>
                  <a:t>03</a:t>
                </a:r>
                <a:endParaRPr lang="en-US" sz="75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199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5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171C-FBCE-4113-883E-7D39E00B6DBF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4276B0-69D1-B07D-F51D-9A852A20CBF9}"/>
              </a:ext>
            </a:extLst>
          </p:cNvPr>
          <p:cNvSpPr/>
          <p:nvPr/>
        </p:nvSpPr>
        <p:spPr>
          <a:xfrm>
            <a:off x="438912" y="62179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18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BASTIDORES DA SOLUÇÃO</a:t>
            </a:r>
            <a:endParaRPr lang="en-US" sz="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34DA225-89E4-641A-CBF4-36A2182A7BDA}"/>
              </a:ext>
            </a:extLst>
          </p:cNvPr>
          <p:cNvSpPr/>
          <p:nvPr/>
        </p:nvSpPr>
        <p:spPr>
          <a:xfrm>
            <a:off x="438912" y="89611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IA transforma texto em ação no NOC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AD75A7-0302-8D5D-593C-4A72D8CF65D2}"/>
              </a:ext>
            </a:extLst>
          </p:cNvPr>
          <p:cNvSpPr/>
          <p:nvPr/>
        </p:nvSpPr>
        <p:spPr>
          <a:xfrm>
            <a:off x="438912" y="1463040"/>
            <a:ext cx="8046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C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arquitetura simples: dados internos, interpretação da linguagem e resposta integrada ao fluxo de atendimento.</a:t>
            </a:r>
            <a:endParaRPr lang="en-US" sz="1100" dirty="0"/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CC3ADD64-C6AE-AEA8-3864-FB7E3118573E}"/>
              </a:ext>
            </a:extLst>
          </p:cNvPr>
          <p:cNvGrpSpPr/>
          <p:nvPr/>
        </p:nvGrpSpPr>
        <p:grpSpPr>
          <a:xfrm>
            <a:off x="438912" y="3193796"/>
            <a:ext cx="7360920" cy="1207008"/>
            <a:chOff x="438912" y="2139696"/>
            <a:chExt cx="7360920" cy="120700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0A4DF9C7-201A-57E9-A523-53D1F08173FF}"/>
                </a:ext>
              </a:extLst>
            </p:cNvPr>
            <p:cNvSpPr/>
            <p:nvPr/>
          </p:nvSpPr>
          <p:spPr>
            <a:xfrm>
              <a:off x="438912" y="2139696"/>
              <a:ext cx="1627632" cy="1207008"/>
            </a:xfrm>
            <a:prstGeom prst="roundRect">
              <a:avLst>
                <a:gd name="adj" fmla="val 4545"/>
              </a:avLst>
            </a:prstGeom>
            <a:solidFill>
              <a:srgbClr val="102945"/>
            </a:solidFill>
            <a:ln w="13970">
              <a:solidFill>
                <a:srgbClr val="18C8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18C55081-E64F-2F15-85FF-2640E72F1041}"/>
                </a:ext>
              </a:extLst>
            </p:cNvPr>
            <p:cNvSpPr/>
            <p:nvPr/>
          </p:nvSpPr>
          <p:spPr>
            <a:xfrm>
              <a:off x="603504" y="2304288"/>
              <a:ext cx="310896" cy="310896"/>
            </a:xfrm>
            <a:prstGeom prst="ellipse">
              <a:avLst/>
            </a:prstGeom>
            <a:solidFill>
              <a:srgbClr val="18C8FF"/>
            </a:solidFill>
            <a:ln w="12700">
              <a:solidFill>
                <a:srgbClr val="18C8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B4685F17-3C8B-7515-5F28-F115B80392B4}"/>
                </a:ext>
              </a:extLst>
            </p:cNvPr>
            <p:cNvSpPr/>
            <p:nvPr/>
          </p:nvSpPr>
          <p:spPr>
            <a:xfrm>
              <a:off x="603504" y="234086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71426"/>
                  </a:solidFill>
                </a:rPr>
                <a:t>1</a:t>
              </a:r>
              <a:endParaRPr lang="en-US" sz="7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2E72C17D-2CC8-C5A5-E580-BC924F615166}"/>
                </a:ext>
              </a:extLst>
            </p:cNvPr>
            <p:cNvSpPr/>
            <p:nvPr/>
          </p:nvSpPr>
          <p:spPr>
            <a:xfrm>
              <a:off x="603504" y="2724912"/>
              <a:ext cx="1298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6FAFF"/>
                  </a:solidFill>
                </a:rPr>
                <a:t>TICKET</a:t>
              </a:r>
              <a:endParaRPr lang="en-US" sz="10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066329EF-E9C9-CFA5-3263-48677EE9AE0F}"/>
                </a:ext>
              </a:extLst>
            </p:cNvPr>
            <p:cNvSpPr/>
            <p:nvPr/>
          </p:nvSpPr>
          <p:spPr>
            <a:xfrm>
              <a:off x="603504" y="2990088"/>
              <a:ext cx="12984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A8BCD3"/>
                  </a:solidFill>
                </a:rPr>
                <a:t>Consulta ao status</a:t>
              </a:r>
              <a:endParaRPr lang="en-US" sz="85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CCBAC2E-6CA7-4E6C-E954-81ACD6865BFD}"/>
                </a:ext>
              </a:extLst>
            </p:cNvPr>
            <p:cNvSpPr/>
            <p:nvPr/>
          </p:nvSpPr>
          <p:spPr>
            <a:xfrm>
              <a:off x="2103120" y="2532888"/>
              <a:ext cx="246888" cy="384048"/>
            </a:xfrm>
            <a:prstGeom prst="chevron">
              <a:avLst/>
            </a:prstGeom>
            <a:solidFill>
              <a:srgbClr val="24496A"/>
            </a:solidFill>
            <a:ln w="12700">
              <a:solidFill>
                <a:srgbClr val="24496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5E07F08C-65A1-EFAE-AD2C-43D8BEEF3FED}"/>
                </a:ext>
              </a:extLst>
            </p:cNvPr>
            <p:cNvSpPr/>
            <p:nvPr/>
          </p:nvSpPr>
          <p:spPr>
            <a:xfrm>
              <a:off x="2350008" y="2139696"/>
              <a:ext cx="1627632" cy="1207008"/>
            </a:xfrm>
            <a:prstGeom prst="roundRect">
              <a:avLst>
                <a:gd name="adj" fmla="val 4545"/>
              </a:avLst>
            </a:prstGeom>
            <a:solidFill>
              <a:srgbClr val="102945"/>
            </a:solidFill>
            <a:ln w="13970">
              <a:solidFill>
                <a:srgbClr val="2997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DCD96AD3-D612-43F9-A3BA-4F46A0248857}"/>
                </a:ext>
              </a:extLst>
            </p:cNvPr>
            <p:cNvSpPr/>
            <p:nvPr/>
          </p:nvSpPr>
          <p:spPr>
            <a:xfrm>
              <a:off x="2514600" y="2304288"/>
              <a:ext cx="310896" cy="310896"/>
            </a:xfrm>
            <a:prstGeom prst="ellipse">
              <a:avLst/>
            </a:prstGeom>
            <a:solidFill>
              <a:srgbClr val="2997FF"/>
            </a:solidFill>
            <a:ln w="12700">
              <a:solidFill>
                <a:srgbClr val="2997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97441066-C3AF-2408-B8EF-6F15347A2CA9}"/>
                </a:ext>
              </a:extLst>
            </p:cNvPr>
            <p:cNvSpPr/>
            <p:nvPr/>
          </p:nvSpPr>
          <p:spPr>
            <a:xfrm>
              <a:off x="2514600" y="234086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71426"/>
                  </a:solidFill>
                </a:rPr>
                <a:t>2</a:t>
              </a:r>
              <a:endParaRPr lang="en-US" sz="7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01ED5412-6BC1-E295-EFD5-EF77088F88E7}"/>
                </a:ext>
              </a:extLst>
            </p:cNvPr>
            <p:cNvSpPr/>
            <p:nvPr/>
          </p:nvSpPr>
          <p:spPr>
            <a:xfrm>
              <a:off x="2514600" y="2724912"/>
              <a:ext cx="1298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6FAFF"/>
                  </a:solidFill>
                </a:rPr>
                <a:t>MENSAGEM</a:t>
              </a:r>
              <a:endParaRPr lang="en-US" sz="10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F7A297B2-D441-9DCB-9B9D-D9EA57FE34E4}"/>
                </a:ext>
              </a:extLst>
            </p:cNvPr>
            <p:cNvSpPr/>
            <p:nvPr/>
          </p:nvSpPr>
          <p:spPr>
            <a:xfrm>
              <a:off x="2514600" y="2990088"/>
              <a:ext cx="12984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A8BCD3"/>
                  </a:solidFill>
                </a:rPr>
                <a:t>Contexto do cliente</a:t>
              </a:r>
              <a:endParaRPr lang="en-US" sz="85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A8716113-1371-E527-3714-07EB14B06E46}"/>
                </a:ext>
              </a:extLst>
            </p:cNvPr>
            <p:cNvSpPr/>
            <p:nvPr/>
          </p:nvSpPr>
          <p:spPr>
            <a:xfrm>
              <a:off x="4014216" y="2532888"/>
              <a:ext cx="246888" cy="384048"/>
            </a:xfrm>
            <a:prstGeom prst="chevron">
              <a:avLst/>
            </a:prstGeom>
            <a:solidFill>
              <a:srgbClr val="24496A"/>
            </a:solidFill>
            <a:ln w="12700">
              <a:solidFill>
                <a:srgbClr val="24496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8AC3D229-F72F-9C11-0FCE-F2D74D6CEC66}"/>
                </a:ext>
              </a:extLst>
            </p:cNvPr>
            <p:cNvSpPr/>
            <p:nvPr/>
          </p:nvSpPr>
          <p:spPr>
            <a:xfrm>
              <a:off x="4261104" y="2139696"/>
              <a:ext cx="1627632" cy="1207008"/>
            </a:xfrm>
            <a:prstGeom prst="roundRect">
              <a:avLst>
                <a:gd name="adj" fmla="val 4545"/>
              </a:avLst>
            </a:prstGeom>
            <a:solidFill>
              <a:srgbClr val="3F32A8"/>
            </a:solidFill>
            <a:ln w="13970">
              <a:solidFill>
                <a:srgbClr val="7A5C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68E84FAF-7343-A8E1-48E1-58452602CF2F}"/>
                </a:ext>
              </a:extLst>
            </p:cNvPr>
            <p:cNvSpPr/>
            <p:nvPr/>
          </p:nvSpPr>
          <p:spPr>
            <a:xfrm>
              <a:off x="4425696" y="2304288"/>
              <a:ext cx="310896" cy="310896"/>
            </a:xfrm>
            <a:prstGeom prst="ellipse">
              <a:avLst/>
            </a:prstGeom>
            <a:solidFill>
              <a:srgbClr val="7A5CFF"/>
            </a:solidFill>
            <a:ln w="12700">
              <a:solidFill>
                <a:srgbClr val="7A5C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34D4B6E7-9EC3-1B3F-A801-1453F8FB6E3E}"/>
                </a:ext>
              </a:extLst>
            </p:cNvPr>
            <p:cNvSpPr/>
            <p:nvPr/>
          </p:nvSpPr>
          <p:spPr>
            <a:xfrm>
              <a:off x="4425696" y="234086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71426"/>
                  </a:solidFill>
                </a:rPr>
                <a:t>3</a:t>
              </a:r>
              <a:endParaRPr lang="en-US" sz="7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8A53BFE1-16DA-F4B1-68F6-041DB3AC1D7D}"/>
                </a:ext>
              </a:extLst>
            </p:cNvPr>
            <p:cNvSpPr/>
            <p:nvPr/>
          </p:nvSpPr>
          <p:spPr>
            <a:xfrm>
              <a:off x="4425696" y="2724912"/>
              <a:ext cx="1298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6FAFF"/>
                  </a:solidFill>
                </a:rPr>
                <a:t>TF-IDF + MLP</a:t>
              </a:r>
              <a:endParaRPr lang="en-US" sz="10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63B2FE45-893F-5226-E03E-0EC622439C08}"/>
                </a:ext>
              </a:extLst>
            </p:cNvPr>
            <p:cNvSpPr/>
            <p:nvPr/>
          </p:nvSpPr>
          <p:spPr>
            <a:xfrm>
              <a:off x="4425696" y="2990088"/>
              <a:ext cx="12984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A8BCD3"/>
                  </a:solidFill>
                </a:rPr>
                <a:t>Sentimento</a:t>
              </a:r>
              <a:endParaRPr lang="en-US" sz="85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883D908B-EC9C-A7F3-03BB-77ABEBA74AD0}"/>
                </a:ext>
              </a:extLst>
            </p:cNvPr>
            <p:cNvSpPr/>
            <p:nvPr/>
          </p:nvSpPr>
          <p:spPr>
            <a:xfrm>
              <a:off x="5925312" y="2532888"/>
              <a:ext cx="246888" cy="384048"/>
            </a:xfrm>
            <a:prstGeom prst="chevron">
              <a:avLst/>
            </a:prstGeom>
            <a:solidFill>
              <a:srgbClr val="24496A"/>
            </a:solidFill>
            <a:ln w="12700">
              <a:solidFill>
                <a:srgbClr val="24496A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2F389D46-87C8-CF11-9ACC-8FFB82CD61C6}"/>
                </a:ext>
              </a:extLst>
            </p:cNvPr>
            <p:cNvSpPr/>
            <p:nvPr/>
          </p:nvSpPr>
          <p:spPr>
            <a:xfrm>
              <a:off x="6172200" y="2139696"/>
              <a:ext cx="1627632" cy="1207008"/>
            </a:xfrm>
            <a:prstGeom prst="roundRect">
              <a:avLst>
                <a:gd name="adj" fmla="val 4545"/>
              </a:avLst>
            </a:prstGeom>
            <a:solidFill>
              <a:srgbClr val="102945"/>
            </a:solidFill>
            <a:ln w="13970">
              <a:solidFill>
                <a:srgbClr val="19D3A2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3CDA6308-26FF-7C4F-1EAC-DCB67E8F037B}"/>
                </a:ext>
              </a:extLst>
            </p:cNvPr>
            <p:cNvSpPr/>
            <p:nvPr/>
          </p:nvSpPr>
          <p:spPr>
            <a:xfrm>
              <a:off x="6336792" y="2304288"/>
              <a:ext cx="310896" cy="310896"/>
            </a:xfrm>
            <a:prstGeom prst="ellipse">
              <a:avLst/>
            </a:prstGeom>
            <a:solidFill>
              <a:srgbClr val="19D3A2"/>
            </a:solidFill>
            <a:ln w="12700">
              <a:solidFill>
                <a:srgbClr val="19D3A2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1D587F63-DCDB-4EE7-C673-9E44BB98717E}"/>
                </a:ext>
              </a:extLst>
            </p:cNvPr>
            <p:cNvSpPr/>
            <p:nvPr/>
          </p:nvSpPr>
          <p:spPr>
            <a:xfrm>
              <a:off x="6336792" y="234086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071426"/>
                  </a:solidFill>
                </a:rPr>
                <a:t>4</a:t>
              </a:r>
              <a:endParaRPr lang="en-US" sz="7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585A3A69-9037-A8C7-16FD-573FB5AF9F2D}"/>
                </a:ext>
              </a:extLst>
            </p:cNvPr>
            <p:cNvSpPr/>
            <p:nvPr/>
          </p:nvSpPr>
          <p:spPr>
            <a:xfrm>
              <a:off x="6336792" y="2724912"/>
              <a:ext cx="129844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6FAFF"/>
                  </a:solidFill>
                </a:rPr>
                <a:t>AÇÃO</a:t>
              </a:r>
              <a:endParaRPr lang="en-US" sz="10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33E1BA8C-6ED4-6310-F525-206CE3F43EB9}"/>
                </a:ext>
              </a:extLst>
            </p:cNvPr>
            <p:cNvSpPr/>
            <p:nvPr/>
          </p:nvSpPr>
          <p:spPr>
            <a:xfrm>
              <a:off x="6336792" y="2990088"/>
              <a:ext cx="129844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A8BCD3"/>
                  </a:solidFill>
                </a:rPr>
                <a:t>Decisão e auditoria</a:t>
              </a:r>
              <a:endParaRPr lang="en-US" sz="850" dirty="0"/>
            </a:p>
          </p:txBody>
        </p:sp>
      </p:grpSp>
      <p:sp>
        <p:nvSpPr>
          <p:cNvPr id="28" name="Shape 26">
            <a:extLst>
              <a:ext uri="{FF2B5EF4-FFF2-40B4-BE49-F238E27FC236}">
                <a16:creationId xmlns:a16="http://schemas.microsoft.com/office/drawing/2014/main" id="{BC1626B3-E4F9-9A1D-8319-3EC1D467B219}"/>
              </a:ext>
            </a:extLst>
          </p:cNvPr>
          <p:cNvSpPr/>
          <p:nvPr/>
        </p:nvSpPr>
        <p:spPr>
          <a:xfrm>
            <a:off x="8229600" y="1993392"/>
            <a:ext cx="3511296" cy="4005072"/>
          </a:xfrm>
          <a:prstGeom prst="roundRect">
            <a:avLst>
              <a:gd name="adj" fmla="val 1563"/>
            </a:avLst>
          </a:prstGeom>
          <a:solidFill>
            <a:srgbClr val="0D2038"/>
          </a:solidFill>
          <a:ln w="10160">
            <a:solidFill>
              <a:srgbClr val="24496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EAB1D8A-444E-324B-CCE3-293A38B8BE7B}"/>
              </a:ext>
            </a:extLst>
          </p:cNvPr>
          <p:cNvSpPr/>
          <p:nvPr/>
        </p:nvSpPr>
        <p:spPr>
          <a:xfrm>
            <a:off x="8485632" y="22585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18C8FF"/>
                </a:solidFill>
              </a:rPr>
              <a:t>O MODELO, SEM COMPLEXIDADE</a:t>
            </a:r>
            <a:endParaRPr lang="en-US" sz="9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C45401C-83E7-A61A-A2B3-C059BA01DA3E}"/>
              </a:ext>
            </a:extLst>
          </p:cNvPr>
          <p:cNvSpPr/>
          <p:nvPr/>
        </p:nvSpPr>
        <p:spPr>
          <a:xfrm>
            <a:off x="8485632" y="263347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MLP para análise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6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sentimento</a:t>
            </a:r>
            <a:endParaRPr lang="en-US" sz="2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3AEED00-E434-A602-E9D8-EF615E0190E2}"/>
              </a:ext>
            </a:extLst>
          </p:cNvPr>
          <p:cNvSpPr/>
          <p:nvPr/>
        </p:nvSpPr>
        <p:spPr>
          <a:xfrm>
            <a:off x="8485632" y="3401568"/>
            <a:ext cx="2816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A8BCD3"/>
                </a:solidFill>
              </a:rPr>
              <a:t>TF-IDF converte unigramas e bigramas em até 500 atributos. Uma rede neural com 1 camada oculta de 32 neurônios classifica a mensagem como negativa, positiva ou neutra.</a:t>
            </a:r>
            <a:endParaRPr lang="en-US" sz="10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FFD51C7-1CC2-FE3C-E263-29413C4D6085}"/>
              </a:ext>
            </a:extLst>
          </p:cNvPr>
          <p:cNvSpPr/>
          <p:nvPr/>
        </p:nvSpPr>
        <p:spPr>
          <a:xfrm>
            <a:off x="8485632" y="4809744"/>
            <a:ext cx="2834640" cy="676656"/>
          </a:xfrm>
          <a:prstGeom prst="roundRect">
            <a:avLst>
              <a:gd name="adj" fmla="val 6757"/>
            </a:avLst>
          </a:prstGeom>
          <a:solidFill>
            <a:srgbClr val="0B3542"/>
          </a:solidFill>
          <a:ln w="12700">
            <a:solidFill>
              <a:srgbClr val="19D3A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B5D77AC-9163-5B7A-6663-634989C7A586}"/>
              </a:ext>
            </a:extLst>
          </p:cNvPr>
          <p:cNvSpPr/>
          <p:nvPr/>
        </p:nvSpPr>
        <p:spPr>
          <a:xfrm>
            <a:off x="8686800" y="49651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9D3A2"/>
                </a:solidFill>
              </a:rPr>
              <a:t>SAÍDA OPERACIONAL</a:t>
            </a:r>
            <a:endParaRPr lang="en-US" sz="7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4EE33B8-3242-D3CA-F708-7426778E3E0D}"/>
              </a:ext>
            </a:extLst>
          </p:cNvPr>
          <p:cNvSpPr/>
          <p:nvPr/>
        </p:nvSpPr>
        <p:spPr>
          <a:xfrm>
            <a:off x="8686800" y="518464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6FAFF"/>
                </a:solidFill>
              </a:rPr>
              <a:t>Escalonar • Encerrar • Registrar</a:t>
            </a:r>
            <a:endParaRPr lang="en-US" sz="950" dirty="0"/>
          </a:p>
        </p:txBody>
      </p:sp>
      <p:sp>
        <p:nvSpPr>
          <p:cNvPr id="50" name="Slide Number Placeholder 0">
            <a:extLst>
              <a:ext uri="{FF2B5EF4-FFF2-40B4-BE49-F238E27FC236}">
                <a16:creationId xmlns:a16="http://schemas.microsoft.com/office/drawing/2014/main" id="{BAE5FE6F-F6EF-F8AD-4F5B-95241DBE82B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957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550">
                <a:solidFill>
                  <a:srgbClr val="5D789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67" name="Imagem 66">
            <a:extLst>
              <a:ext uri="{FF2B5EF4-FFF2-40B4-BE49-F238E27FC236}">
                <a16:creationId xmlns:a16="http://schemas.microsoft.com/office/drawing/2014/main" id="{3880F024-39BF-FA44-AEB6-E05EC4920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30069" y="3959787"/>
            <a:ext cx="2638804" cy="2569362"/>
          </a:xfrm>
          <a:prstGeom prst="rect">
            <a:avLst/>
          </a:prstGeom>
        </p:spPr>
      </p:pic>
      <p:pic>
        <p:nvPicPr>
          <p:cNvPr id="69" name="Imagem 68">
            <a:extLst>
              <a:ext uri="{FF2B5EF4-FFF2-40B4-BE49-F238E27FC236}">
                <a16:creationId xmlns:a16="http://schemas.microsoft.com/office/drawing/2014/main" id="{017D7EA5-2A5C-402D-02BC-BF3C7D757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032083" y="4094467"/>
            <a:ext cx="2840972" cy="245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1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6 L 0.00078 -0.1923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-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-4.44444E-6 L 0.69831 -0.0196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22" y="-9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556E-17 -3.33333E-6 L 0.71563 -0.0085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781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5051DA0F-8A60-98AE-689E-101824093DBC}"/>
              </a:ext>
            </a:extLst>
          </p:cNvPr>
          <p:cNvGrpSpPr/>
          <p:nvPr/>
        </p:nvGrpSpPr>
        <p:grpSpPr>
          <a:xfrm>
            <a:off x="566928" y="566928"/>
            <a:ext cx="10963656" cy="5468112"/>
            <a:chOff x="566928" y="566928"/>
            <a:chExt cx="10963656" cy="5468112"/>
          </a:xfrm>
        </p:grpSpPr>
        <p:sp>
          <p:nvSpPr>
            <p:cNvPr id="2" name="Text 0"/>
            <p:cNvSpPr/>
            <p:nvPr/>
          </p:nvSpPr>
          <p:spPr>
            <a:xfrm>
              <a:off x="566928" y="566928"/>
              <a:ext cx="29260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kern="0" spc="150" dirty="0">
                  <a:solidFill>
                    <a:srgbClr val="18C8FF"/>
                  </a:solidFill>
                </a:rPr>
                <a:t>CONCLUSÃO</a:t>
              </a:r>
              <a:endParaRPr lang="en-US" sz="10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66928" y="841248"/>
              <a:ext cx="74980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 dirty="0">
                  <a:solidFill>
                    <a:srgbClr val="F6FAFF"/>
                  </a:solidFill>
                </a:rPr>
                <a:t>Da reação ao risco para a atuação preventiva</a:t>
              </a:r>
              <a:endParaRPr lang="en-US" sz="27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585216" y="1517904"/>
              <a:ext cx="75895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20" dirty="0">
                  <a:solidFill>
                    <a:srgbClr val="A8BCD3"/>
                  </a:solidFill>
                </a:rPr>
                <a:t>A IA transforma sinais de insatisfação em oportunidade de resposta antes que o escalonamento se torne formal.</a:t>
              </a:r>
              <a:endParaRPr lang="en-US" sz="122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594360" y="2331720"/>
              <a:ext cx="2487168" cy="2148840"/>
            </a:xfrm>
            <a:prstGeom prst="roundRect">
              <a:avLst>
                <a:gd name="adj" fmla="val 3404"/>
              </a:avLst>
            </a:prstGeom>
            <a:solidFill>
              <a:srgbClr val="0D213A"/>
            </a:solidFill>
            <a:ln w="16510">
              <a:solidFill>
                <a:srgbClr val="FF506D"/>
              </a:solidFill>
              <a:prstDash val="solid"/>
            </a:ln>
            <a:effectLst>
              <a:outerShdw blurRad="17780" dist="5080" dir="27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Shape 4"/>
            <p:cNvSpPr/>
            <p:nvPr/>
          </p:nvSpPr>
          <p:spPr>
            <a:xfrm>
              <a:off x="758952" y="2532888"/>
              <a:ext cx="438912" cy="438912"/>
            </a:xfrm>
            <a:prstGeom prst="ellipse">
              <a:avLst/>
            </a:prstGeom>
            <a:solidFill>
              <a:srgbClr val="FF506D"/>
            </a:solidFill>
            <a:ln w="12700">
              <a:solidFill>
                <a:srgbClr val="FF506D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5"/>
            <p:cNvSpPr/>
            <p:nvPr/>
          </p:nvSpPr>
          <p:spPr>
            <a:xfrm>
              <a:off x="758952" y="2651760"/>
              <a:ext cx="43891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71426"/>
                  </a:solidFill>
                </a:rPr>
                <a:t>1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758952" y="3182112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506D"/>
                  </a:solidFill>
                </a:rPr>
                <a:t>DETECÇÃO ANTECIPADA</a:t>
              </a:r>
              <a:endParaRPr lang="en-US" sz="1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58952" y="3675888"/>
              <a:ext cx="21396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6FAFF"/>
                  </a:solidFill>
                </a:rPr>
                <a:t>A mensagem negativa sinaliza risco de SLA e insatisfação ainda durante o atendimento.</a:t>
              </a:r>
              <a:endParaRPr lang="en-US" sz="10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136392" y="3182112"/>
              <a:ext cx="219456" cy="438912"/>
            </a:xfrm>
            <a:prstGeom prst="chevron">
              <a:avLst/>
            </a:prstGeom>
            <a:solidFill>
              <a:srgbClr val="315675"/>
            </a:solidFill>
            <a:ln w="12700">
              <a:solidFill>
                <a:srgbClr val="315675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Shape 9"/>
            <p:cNvSpPr/>
            <p:nvPr/>
          </p:nvSpPr>
          <p:spPr>
            <a:xfrm>
              <a:off x="3410712" y="2331720"/>
              <a:ext cx="2487168" cy="2148840"/>
            </a:xfrm>
            <a:prstGeom prst="roundRect">
              <a:avLst>
                <a:gd name="adj" fmla="val 3404"/>
              </a:avLst>
            </a:prstGeom>
            <a:solidFill>
              <a:srgbClr val="0D213A"/>
            </a:solidFill>
            <a:ln w="16510">
              <a:solidFill>
                <a:srgbClr val="18C8FF"/>
              </a:solidFill>
              <a:prstDash val="solid"/>
            </a:ln>
            <a:effectLst>
              <a:outerShdw blurRad="17780" dist="5080" dir="27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3575304" y="2532888"/>
              <a:ext cx="438912" cy="438912"/>
            </a:xfrm>
            <a:prstGeom prst="ellipse">
              <a:avLst/>
            </a:prstGeom>
            <a:solidFill>
              <a:srgbClr val="18C8FF"/>
            </a:solidFill>
            <a:ln w="12700">
              <a:solidFill>
                <a:srgbClr val="18C8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/>
            <p:nvPr/>
          </p:nvSpPr>
          <p:spPr>
            <a:xfrm>
              <a:off x="3575304" y="2651760"/>
              <a:ext cx="43891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71426"/>
                  </a:solidFill>
                </a:rPr>
                <a:t>2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575304" y="3182112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8C8FF"/>
                  </a:solidFill>
                </a:rPr>
                <a:t>AÇÃO PREVENTIVA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575304" y="3675888"/>
              <a:ext cx="21396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6FAFF"/>
                  </a:solidFill>
                </a:rPr>
                <a:t>O NOC pode priorizar a tratativa e ajustar a comunicação antes da reclamação formal.</a:t>
              </a:r>
              <a:endParaRPr lang="en-US" sz="10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952744" y="3182112"/>
              <a:ext cx="219456" cy="438912"/>
            </a:xfrm>
            <a:prstGeom prst="chevron">
              <a:avLst/>
            </a:prstGeom>
            <a:solidFill>
              <a:srgbClr val="315675"/>
            </a:solidFill>
            <a:ln w="12700">
              <a:solidFill>
                <a:srgbClr val="315675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Shape 15"/>
            <p:cNvSpPr/>
            <p:nvPr/>
          </p:nvSpPr>
          <p:spPr>
            <a:xfrm>
              <a:off x="6227064" y="2331720"/>
              <a:ext cx="2487168" cy="2148840"/>
            </a:xfrm>
            <a:prstGeom prst="roundRect">
              <a:avLst>
                <a:gd name="adj" fmla="val 3404"/>
              </a:avLst>
            </a:prstGeom>
            <a:solidFill>
              <a:srgbClr val="0D213A"/>
            </a:solidFill>
            <a:ln w="16510">
              <a:solidFill>
                <a:srgbClr val="7A5CFF"/>
              </a:solidFill>
              <a:prstDash val="solid"/>
            </a:ln>
            <a:effectLst>
              <a:outerShdw blurRad="17780" dist="5080" dir="27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Shape 16"/>
            <p:cNvSpPr/>
            <p:nvPr/>
          </p:nvSpPr>
          <p:spPr>
            <a:xfrm>
              <a:off x="6391656" y="2532888"/>
              <a:ext cx="438912" cy="438912"/>
            </a:xfrm>
            <a:prstGeom prst="ellipse">
              <a:avLst/>
            </a:prstGeom>
            <a:solidFill>
              <a:srgbClr val="7A5CFF"/>
            </a:solidFill>
            <a:ln w="12700">
              <a:solidFill>
                <a:srgbClr val="7A5C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 17"/>
            <p:cNvSpPr/>
            <p:nvPr/>
          </p:nvSpPr>
          <p:spPr>
            <a:xfrm>
              <a:off x="6391656" y="2651760"/>
              <a:ext cx="43891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71426"/>
                  </a:solidFill>
                </a:rPr>
                <a:t>3</a:t>
              </a:r>
              <a:endParaRPr lang="en-US" sz="9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391656" y="3182112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7A5CFF"/>
                  </a:solidFill>
                </a:rPr>
                <a:t>EXPERIÊNCIA PROTEGIDA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391656" y="3675888"/>
              <a:ext cx="21396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6FAFF"/>
                  </a:solidFill>
                </a:rPr>
                <a:t>Resposta mais rápida e contextualizada melhora a percepção de cuidado e controle.</a:t>
              </a:r>
              <a:endParaRPr lang="en-US" sz="10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8769096" y="3182112"/>
              <a:ext cx="219456" cy="438912"/>
            </a:xfrm>
            <a:prstGeom prst="chevron">
              <a:avLst/>
            </a:prstGeom>
            <a:solidFill>
              <a:srgbClr val="315675"/>
            </a:solidFill>
            <a:ln w="12700">
              <a:solidFill>
                <a:srgbClr val="315675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Shape 21"/>
            <p:cNvSpPr/>
            <p:nvPr/>
          </p:nvSpPr>
          <p:spPr>
            <a:xfrm>
              <a:off x="9043416" y="2331720"/>
              <a:ext cx="2487168" cy="2148840"/>
            </a:xfrm>
            <a:prstGeom prst="roundRect">
              <a:avLst>
                <a:gd name="adj" fmla="val 3404"/>
              </a:avLst>
            </a:prstGeom>
            <a:solidFill>
              <a:srgbClr val="0D213A"/>
            </a:solidFill>
            <a:ln w="16510">
              <a:solidFill>
                <a:srgbClr val="19D3A2"/>
              </a:solidFill>
              <a:prstDash val="solid"/>
            </a:ln>
            <a:effectLst>
              <a:outerShdw blurRad="17780" dist="5080" dir="2700000" algn="bl" rotWithShape="0">
                <a:srgbClr val="000000">
                  <a:alpha val="22000"/>
                </a:srgbClr>
              </a:outerShdw>
            </a:effec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Shape 22"/>
            <p:cNvSpPr/>
            <p:nvPr/>
          </p:nvSpPr>
          <p:spPr>
            <a:xfrm>
              <a:off x="9208008" y="2532888"/>
              <a:ext cx="438912" cy="438912"/>
            </a:xfrm>
            <a:prstGeom prst="ellipse">
              <a:avLst/>
            </a:prstGeom>
            <a:solidFill>
              <a:srgbClr val="19D3A2"/>
            </a:solidFill>
            <a:ln w="12700">
              <a:solidFill>
                <a:srgbClr val="19D3A2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 23"/>
            <p:cNvSpPr/>
            <p:nvPr/>
          </p:nvSpPr>
          <p:spPr>
            <a:xfrm>
              <a:off x="9208008" y="2651760"/>
              <a:ext cx="438912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71426"/>
                  </a:solidFill>
                </a:rPr>
                <a:t>4</a:t>
              </a:r>
              <a:endParaRPr lang="en-US" sz="9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9208008" y="3182112"/>
              <a:ext cx="2157984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9D3A2"/>
                  </a:solidFill>
                </a:rPr>
                <a:t>RETENÇÃO DA PLANTA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9208008" y="3675888"/>
              <a:ext cx="21396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F6FAFF"/>
                  </a:solidFill>
                </a:rPr>
                <a:t>Menos atrito recorrente contribui para preservar confiança, continuidade e reduzir risco de churn.</a:t>
              </a:r>
              <a:endParaRPr lang="en-US" sz="10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005840" y="5074920"/>
              <a:ext cx="10149840" cy="960120"/>
            </a:xfrm>
            <a:prstGeom prst="roundRect">
              <a:avLst>
                <a:gd name="adj" fmla="val 6667"/>
              </a:avLst>
            </a:prstGeom>
            <a:solidFill>
              <a:srgbClr val="0A3552"/>
            </a:solidFill>
            <a:ln w="15240">
              <a:solidFill>
                <a:srgbClr val="18C8FF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Text 27"/>
            <p:cNvSpPr/>
            <p:nvPr/>
          </p:nvSpPr>
          <p:spPr>
            <a:xfrm>
              <a:off x="1261872" y="5321808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8C8FF"/>
                  </a:solidFill>
                </a:rPr>
                <a:t>Valor estratégico</a:t>
              </a:r>
              <a:endParaRPr lang="en-US" sz="11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2651760" y="5257800"/>
              <a:ext cx="81838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6FAFF"/>
                  </a:solidFill>
                </a:rPr>
                <a:t>Antecipar o escalonamento formal permite combinar prioridade operacional e comunicação proativa, elevando a impressão do cliente e protegendo a permanência dos serviços na planta.</a:t>
              </a:r>
              <a:endParaRPr lang="en-US" sz="1400" dirty="0"/>
            </a:p>
          </p:txBody>
        </p:sp>
      </p:grp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5D789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e1f3187-4610-4ce2-bad1-b92f4ba36ab3}" enabled="0" method="" siteId="{0e1f3187-4610-4ce2-bad1-b92f4ba36a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399</Words>
  <Application>Microsoft Office PowerPoint</Application>
  <PresentationFormat>Widescreen</PresentationFormat>
  <Paragraphs>55</Paragraphs>
  <Slides>3</Slides>
  <Notes>2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</vt:vector>
  </TitlesOfParts>
  <Company>FGV MBA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inteligente para suporte NOC</dc:title>
  <dc:subject>Chatbot de Trouble Tickets com análise de sentimento</dc:subject>
  <dc:creator>Ribeiro, Fabio</dc:creator>
  <cp:lastModifiedBy>Ribeiro, Fabio</cp:lastModifiedBy>
  <cp:revision>6</cp:revision>
  <dcterms:created xsi:type="dcterms:W3CDTF">2026-08-24T14:07:04Z</dcterms:created>
  <dcterms:modified xsi:type="dcterms:W3CDTF">2026-08-25T19:34:20Z</dcterms:modified>
</cp:coreProperties>
</file>